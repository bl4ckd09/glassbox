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148840"/>
            <a:ext cx="502920" cy="50292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8080B"/>
                </a:solidFill>
                <a:latin typeface="Arial"/>
              </a:rPr>
              <a:t>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121408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4F4F5"/>
                </a:solidFill>
                <a:latin typeface="Arial"/>
              </a:rPr>
              <a:t>GlassBox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4F4F5"/>
                </a:solidFill>
                <a:latin typeface="Arial"/>
              </a:rPr>
              <a:t>Pre-registration for trading calls.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34D399"/>
                </a:solidFill>
                <a:latin typeface="Arial"/>
              </a:rPr>
              <a:t>Audit, don't trust.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09160"/>
            <a:ext cx="1143000" cy="384048"/>
          </a:xfrm>
          <a:prstGeom prst="roundRect">
            <a:avLst/>
          </a:prstGeom>
          <a:solidFill>
            <a:srgbClr val="24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8BDF8"/>
                </a:solidFill>
                <a:latin typeface="Arial"/>
              </a:rPr>
              <a:t>Sui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4709160"/>
            <a:ext cx="1143000" cy="384048"/>
          </a:xfrm>
          <a:prstGeom prst="roundRect">
            <a:avLst/>
          </a:prstGeom>
          <a:solidFill>
            <a:srgbClr val="24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4709160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Arial"/>
              </a:rPr>
              <a:t>DeepBook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79" y="4709160"/>
            <a:ext cx="1143000" cy="384048"/>
          </a:xfrm>
          <a:prstGeom prst="roundRect">
            <a:avLst/>
          </a:prstGeom>
          <a:solidFill>
            <a:srgbClr val="24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79" y="4709160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78BFA"/>
                </a:solidFill>
                <a:latin typeface="Arial"/>
              </a:rPr>
              <a:t>Walrus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709160"/>
            <a:ext cx="1143000" cy="384048"/>
          </a:xfrm>
          <a:prstGeom prst="roundRect">
            <a:avLst/>
          </a:prstGeom>
          <a:solidFill>
            <a:srgbClr val="24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4709160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D4D8"/>
                </a:solidFill>
                <a:latin typeface="Arial"/>
              </a:rPr>
              <a:t>AI-native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A1A1AA"/>
                </a:solidFill>
                <a:latin typeface="Arial"/>
              </a:rPr>
              <a:t>Tamper-proof, auditable track records on Sui — for the Encode Vibe Coding Hackathon.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1717A"/>
                </a:solidFill>
                <a:latin typeface="Arial"/>
              </a:rPr>
              <a:t>glassbox-beige.vercel.app</a:t>
            </a:r>
            <a:r>
              <a:rPr sz="1100" b="0">
                <a:solidFill>
                  <a:srgbClr val="71717A"/>
                </a:solidFill>
                <a:latin typeface="Arial"/>
              </a:rPr>
              <a:t>    ·    github.com/Bl4ckd09/glassbox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B7185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4F4F5"/>
                </a:solidFill>
                <a:latin typeface="Arial"/>
              </a:rPr>
              <a:t>Finfluencers delete their losing calls.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D4D4D8"/>
                </a:solidFill>
                <a:latin typeface="Arial"/>
              </a:rPr>
              <a:t>They post 50 trades, quietly remove the 30 that lost, screenshot the 20 that won, and sell you a </a:t>
            </a:r>
            <a:r>
              <a:rPr sz="2200" b="1">
                <a:solidFill>
                  <a:srgbClr val="F4F4F5"/>
                </a:solidFill>
                <a:latin typeface="Arial"/>
              </a:rPr>
              <a:t>100%-win-rate fantasy.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1A1AA"/>
                </a:solidFill>
                <a:latin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A1A1AA"/>
                </a:solidFill>
                <a:latin typeface="Arial"/>
              </a:rPr>
              <a:t>Retail traders can't tell real skill from survivorship bias — a problem the UK FCA and US SEC have both flagged about misleading trading promotions.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846320"/>
            <a:ext cx="10543032" cy="960120"/>
          </a:xfrm>
          <a:prstGeom prst="round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10058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D4D4D8"/>
                </a:solidFill>
                <a:latin typeface="Arial"/>
              </a:rPr>
              <a:t>This is an </a:t>
            </a:r>
            <a:r>
              <a:rPr sz="1800" b="1">
                <a:solidFill>
                  <a:srgbClr val="34D399"/>
                </a:solidFill>
                <a:latin typeface="Arial"/>
              </a:rPr>
              <a:t>information-asymmetry</a:t>
            </a:r>
            <a:r>
              <a:rPr sz="1800" b="0">
                <a:solidFill>
                  <a:srgbClr val="D4D4D8"/>
                </a:solidFill>
                <a:latin typeface="Arial"/>
              </a:rPr>
              <a:t> problem — retail is structurally disadvantaged versus whoever controls the record.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1717A"/>
                </a:solidFill>
                <a:latin typeface="Arial"/>
              </a:rPr>
              <a:t>glassbox-beige.vercel.app</a:t>
            </a:r>
            <a:r>
              <a:rPr sz="1100" b="0">
                <a:solidFill>
                  <a:srgbClr val="71717A"/>
                </a:solidFill>
                <a:latin typeface="Arial"/>
              </a:rPr>
              <a:t>    ·    github.com/Bl4ckd09/glassbox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8BDF8"/>
                </a:solidFill>
                <a:latin typeface="Arial"/>
              </a:rPr>
              <a:t>THE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A1A1AA"/>
                </a:solidFill>
                <a:latin typeface="Arial"/>
              </a:rPr>
              <a:t>On-chain PnL trackers show what a wallet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A1A1AA"/>
                </a:solidFill>
                <a:latin typeface="Arial"/>
              </a:rPr>
              <a:t>did</a:t>
            </a:r>
            <a:r>
              <a:rPr sz="2800" b="0">
                <a:solidFill>
                  <a:srgbClr val="A1A1AA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4F4F5"/>
                </a:solidFill>
                <a:latin typeface="Arial"/>
              </a:rPr>
              <a:t>GlassBox proves what a strategist </a:t>
            </a:r>
            <a:r>
              <a:rPr sz="3400" b="1">
                <a:solidFill>
                  <a:srgbClr val="F4F4F5"/>
                </a:solidFill>
                <a:latin typeface="Arial"/>
              </a:rPr>
              <a:t>said they'd do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34D399"/>
                </a:solidFill>
                <a:latin typeface="Arial"/>
              </a:rPr>
              <a:t>— in advance, with the receipts.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10543032" cy="1005840"/>
          </a:xfrm>
          <a:prstGeom prst="round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10058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D4D4D8"/>
                </a:solidFill>
                <a:latin typeface="Arial"/>
              </a:rPr>
              <a:t>It's clinical-trial pre-registration, applied to trading.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1717A"/>
                </a:solidFill>
                <a:latin typeface="Arial"/>
              </a:rPr>
              <a:t>glassbox-beige.vercel.app</a:t>
            </a:r>
            <a:r>
              <a:rPr sz="1100" b="0">
                <a:solidFill>
                  <a:srgbClr val="71717A"/>
                </a:solidFill>
                <a:latin typeface="Arial"/>
              </a:rPr>
              <a:t>    ·    github.com/Bl4ckd09/glassbox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Arial"/>
              </a:rP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34440"/>
            <a:ext cx="10543032" cy="1481328"/>
          </a:xfrm>
          <a:prstGeom prst="round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" y="1691640"/>
            <a:ext cx="566928" cy="566928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916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8080B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35608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4F4F5"/>
                </a:solidFill>
                <a:latin typeface="Arial"/>
              </a:rPr>
              <a:t>Computed on real markets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92808"/>
            <a:ext cx="9326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A1A1AA"/>
                </a:solidFill>
                <a:latin typeface="Arial"/>
              </a:rPr>
              <a:t>Built from live Sui DeepBook order books and trade history — a real on-chain CLOB, not a simulation.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62072"/>
            <a:ext cx="10543032" cy="1481328"/>
          </a:xfrm>
          <a:prstGeom prst="round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3319272"/>
            <a:ext cx="566928" cy="566928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3192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8080B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63240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4F4F5"/>
                </a:solidFill>
                <a:latin typeface="Arial"/>
              </a:rPr>
              <a:t>Pre-registered before the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520439"/>
            <a:ext cx="9326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A1A1AA"/>
                </a:solidFill>
                <a:latin typeface="Arial"/>
              </a:rPr>
              <a:t>The full call — side, reasoning, risk plan — is signed with a Sui key and written to Walrus the instant it's made. Content-addressed, so it can't be edited, deleted, or back-dated.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89704"/>
            <a:ext cx="10543032" cy="1481328"/>
          </a:xfrm>
          <a:prstGeom prst="round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4946904"/>
            <a:ext cx="566928" cy="566928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94690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8080B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690872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4F4F5"/>
                </a:solidFill>
                <a:latin typeface="Arial"/>
              </a:rPr>
              <a:t>Verifiable by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148072"/>
            <a:ext cx="9326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A1A1AA"/>
                </a:solidFill>
                <a:latin typeface="Arial"/>
              </a:rPr>
              <a:t>Re-fetch the blob from a public Walrus aggregator and check the signature. No need to trust GlassBox.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1717A"/>
                </a:solidFill>
                <a:latin typeface="Arial"/>
              </a:rPr>
              <a:t>glassbox-beige.vercel.app</a:t>
            </a:r>
            <a:r>
              <a:rPr sz="1100" b="0">
                <a:solidFill>
                  <a:srgbClr val="71717A"/>
                </a:solidFill>
                <a:latin typeface="Arial"/>
              </a:rPr>
              <a:t>    ·    github.com/Bl4ckd09/glassbox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Arial"/>
              </a:rPr>
              <a:t>A REAL CALL — VERIFIED LIVE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143000"/>
            <a:ext cx="10543032" cy="1691640"/>
          </a:xfrm>
          <a:prstGeom prst="round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2588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A1A1AA"/>
                </a:solidFill>
                <a:latin typeface="Arial"/>
              </a:rPr>
              <a:t>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37160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4F4F5"/>
                </a:solidFill>
                <a:latin typeface="Arial"/>
              </a:rPr>
              <a:t>SUI / USDC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874519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71717A"/>
                </a:solidFill>
                <a:latin typeface="Arial"/>
              </a:rPr>
              <a:t>entry 0.71127   ·   conviction -0.09   ·   transparent weighted-vote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331720"/>
            <a:ext cx="1051560" cy="384048"/>
          </a:xfrm>
          <a:prstGeom prst="roundRect">
            <a:avLst/>
          </a:prstGeom>
          <a:solidFill>
            <a:srgbClr val="24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D4D8"/>
                </a:solidFill>
                <a:latin typeface="Arial"/>
              </a:rPr>
              <a:t>RSI 63.2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5999" y="2331720"/>
            <a:ext cx="1051560" cy="384048"/>
          </a:xfrm>
          <a:prstGeom prst="roundRect">
            <a:avLst/>
          </a:prstGeom>
          <a:solidFill>
            <a:srgbClr val="24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5999" y="2331720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B7185"/>
                </a:solidFill>
                <a:latin typeface="Arial"/>
              </a:rPr>
              <a:t>stop 1.5%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19" y="2331720"/>
            <a:ext cx="1417320" cy="384048"/>
          </a:xfrm>
          <a:prstGeom prst="roundRect">
            <a:avLst/>
          </a:prstGeom>
          <a:solidFill>
            <a:srgbClr val="24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19" y="2331720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Arial"/>
              </a:rPr>
              <a:t>target 2.7%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331720"/>
            <a:ext cx="1417320" cy="384048"/>
          </a:xfrm>
          <a:prstGeom prst="roundRect">
            <a:avLst/>
          </a:prstGeom>
          <a:solidFill>
            <a:srgbClr val="24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331720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D4D8"/>
                </a:solidFill>
                <a:latin typeface="Arial"/>
              </a:rPr>
              <a:t>size 0.88%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331720"/>
            <a:ext cx="1051560" cy="384048"/>
          </a:xfrm>
          <a:prstGeom prst="roundRect">
            <a:avLst/>
          </a:prstGeom>
          <a:solidFill>
            <a:srgbClr val="24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331720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78BFA"/>
                </a:solidFill>
                <a:latin typeface="Arial"/>
              </a:rPr>
              <a:t>signed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2331720"/>
            <a:ext cx="1417320" cy="384048"/>
          </a:xfrm>
          <a:prstGeom prst="roundRect">
            <a:avLst/>
          </a:prstGeom>
          <a:solidFill>
            <a:srgbClr val="24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331720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Arial"/>
              </a:rPr>
              <a:t>anchored on Walrus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063240"/>
            <a:ext cx="10543032" cy="2788920"/>
          </a:xfrm>
          <a:prstGeom prst="roundRect">
            <a:avLst/>
          </a:prstGeom>
          <a:solidFill>
            <a:srgbClr val="060608"/>
          </a:solidFill>
          <a:ln w="19050">
            <a:solidFill>
              <a:srgbClr val="242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2461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1717A"/>
                </a:solidFill>
                <a:latin typeface="Arial"/>
              </a:rPr>
              <a:t>IMMUTABLE PROOF (Walrus testnet)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703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D4D4D8"/>
                </a:solidFill>
                <a:latin typeface="Menlo"/>
              </a:rPr>
              <a:t>blobId:  77VWcMAKjI…I_6qpyfo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160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71717A"/>
                </a:solidFill>
                <a:latin typeface="Arial"/>
              </a:rPr>
              <a:t>pre-registered before outcome · Walrus epoch 435 · Sui obj 0xd300…130b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709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34D399"/>
                </a:solidFill>
                <a:latin typeface="Arial"/>
              </a:rPr>
              <a:t>✓  </a:t>
            </a:r>
            <a:r>
              <a:rPr sz="2000" b="1">
                <a:solidFill>
                  <a:srgbClr val="34D399"/>
                </a:solidFill>
                <a:latin typeface="Arial"/>
              </a:rPr>
              <a:t>Fetched from public Walrus aggregator — content matches.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212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34D399"/>
                </a:solidFill>
                <a:latin typeface="Arial"/>
              </a:rPr>
              <a:t>✓  </a:t>
            </a:r>
            <a:r>
              <a:rPr sz="2000" b="1">
                <a:solidFill>
                  <a:srgbClr val="34D399"/>
                </a:solidFill>
                <a:latin typeface="Arial"/>
              </a:rPr>
              <a:t>Signature valid — authored by 0xcb37…f673.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1717A"/>
                </a:solidFill>
                <a:latin typeface="Arial"/>
              </a:rPr>
              <a:t>glassbox-beige.vercel.app</a:t>
            </a:r>
            <a:r>
              <a:rPr sz="1100" b="0">
                <a:solidFill>
                  <a:srgbClr val="71717A"/>
                </a:solidFill>
                <a:latin typeface="Arial"/>
              </a:rPr>
              <a:t>    ·    github.com/Bl4ckd09/glassbox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8BDF8"/>
                </a:solidFill>
                <a:latin typeface="Arial"/>
              </a:rPr>
              <a:t>VERIFIABLE LEADERBOARD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A1A1AA"/>
                </a:solidFill>
                <a:latin typeface="Arial"/>
              </a:rPr>
              <a:t>Ranked by a disclosed, risk-adjusted GlassBox Score — not raw PnL.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48132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1717A"/>
                </a:solidFill>
                <a:latin typeface="Arial"/>
              </a:rPr>
              <a:t>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48132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1717A"/>
                </a:solidFill>
                <a:latin typeface="Arial"/>
              </a:rPr>
              <a:t>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14813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1717A"/>
                </a:solidFill>
                <a:latin typeface="Arial"/>
              </a:rPr>
              <a:t>WIN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43032" cy="1143000"/>
          </a:xfrm>
          <a:prstGeom prst="round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572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71717A"/>
                </a:solidFill>
                <a:latin typeface="Arial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2084831"/>
            <a:ext cx="548640" cy="5486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084831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8080B"/>
                </a:solidFill>
                <a:latin typeface="Arial"/>
              </a:rPr>
              <a:t>DH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98424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4F4F5"/>
                </a:solidFill>
                <a:latin typeface="Arial"/>
              </a:rPr>
              <a:t>Diamond Hands Dan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459736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Arial"/>
              </a:rPr>
              <a:t>✓ </a:t>
            </a:r>
            <a:r>
              <a:rPr sz="1200" b="0">
                <a:solidFill>
                  <a:srgbClr val="34D399"/>
                </a:solidFill>
                <a:latin typeface="Arial"/>
              </a:rPr>
              <a:t>100% on Walrus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783080"/>
            <a:ext cx="13716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38BDF8"/>
                </a:solidFill>
                <a:latin typeface="Arial"/>
              </a:rPr>
              <a:t>78.7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83080"/>
            <a:ext cx="13716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34D399"/>
                </a:solidFill>
                <a:latin typeface="Arial"/>
              </a:rPr>
              <a:t>+3.80%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1783080"/>
            <a:ext cx="10972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D4D4D8"/>
                </a:solidFill>
                <a:latin typeface="Arial"/>
              </a:rPr>
              <a:t>83%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63239"/>
            <a:ext cx="10543032" cy="1143000"/>
          </a:xfrm>
          <a:prstGeom prst="round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063239"/>
            <a:ext cx="4572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71717A"/>
                </a:solidFill>
                <a:latin typeface="Arial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8760" y="3364991"/>
            <a:ext cx="548640" cy="5486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364991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8080B"/>
                </a:solidFill>
                <a:latin typeface="Arial"/>
              </a:rPr>
              <a:t>MM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26440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4F4F5"/>
                </a:solidFill>
                <a:latin typeface="Arial"/>
              </a:rPr>
              <a:t>Momentum Mia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3739896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Arial"/>
              </a:rPr>
              <a:t>✓ </a:t>
            </a:r>
            <a:r>
              <a:rPr sz="1200" b="0">
                <a:solidFill>
                  <a:srgbClr val="34D399"/>
                </a:solidFill>
                <a:latin typeface="Arial"/>
              </a:rPr>
              <a:t>100% on Walrus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063239"/>
            <a:ext cx="13716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38BDF8"/>
                </a:solidFill>
                <a:latin typeface="Arial"/>
              </a:rPr>
              <a:t>65.1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063239"/>
            <a:ext cx="13716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34D399"/>
                </a:solidFill>
                <a:latin typeface="Arial"/>
              </a:rPr>
              <a:t>+1.12%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3063239"/>
            <a:ext cx="10972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D4D4D8"/>
                </a:solidFill>
                <a:latin typeface="Arial"/>
              </a:rPr>
              <a:t>57%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343400"/>
            <a:ext cx="10543032" cy="1143000"/>
          </a:xfrm>
          <a:prstGeom prst="round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343400"/>
            <a:ext cx="4572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71717A"/>
                </a:solidFill>
                <a:latin typeface="Arial"/>
              </a:rPr>
              <a:t>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08760" y="4645152"/>
            <a:ext cx="548640" cy="5486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08760" y="464515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8080B"/>
                </a:solidFill>
                <a:latin typeface="Arial"/>
              </a:rP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454456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4F4F5"/>
                </a:solidFill>
                <a:latin typeface="Arial"/>
              </a:rPr>
              <a:t>Aletheia</a:t>
            </a:r>
            <a:r>
              <a:rPr sz="1300" b="1">
                <a:solidFill>
                  <a:srgbClr val="38BDF8"/>
                </a:solidFill>
                <a:latin typeface="Arial"/>
              </a:rPr>
              <a:t>  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5020056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Arial"/>
              </a:rPr>
              <a:t>✓ </a:t>
            </a:r>
            <a:r>
              <a:rPr sz="1200" b="0">
                <a:solidFill>
                  <a:srgbClr val="34D399"/>
                </a:solidFill>
                <a:latin typeface="Arial"/>
              </a:rPr>
              <a:t>100% on Walrus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343400"/>
            <a:ext cx="13716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38BDF8"/>
                </a:solidFill>
                <a:latin typeface="Arial"/>
              </a:rPr>
              <a:t>49.6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343400"/>
            <a:ext cx="13716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B7185"/>
                </a:solidFill>
                <a:latin typeface="Arial"/>
              </a:rPr>
              <a:t>-0.58%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4343400"/>
            <a:ext cx="10972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D4D4D8"/>
                </a:solidFill>
                <a:latin typeface="Arial"/>
              </a:rPr>
              <a:t>33%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4D4D8"/>
                </a:solidFill>
                <a:latin typeface="Arial"/>
              </a:rPr>
              <a:t>Even our own AI agent (Aletheia) is shown underperforming. Nothing is hidden.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1717A"/>
                </a:solidFill>
                <a:latin typeface="Arial"/>
              </a:rPr>
              <a:t>glassbox-beige.vercel.app</a:t>
            </a:r>
            <a:r>
              <a:rPr sz="1100" b="0">
                <a:solidFill>
                  <a:srgbClr val="71717A"/>
                </a:solidFill>
                <a:latin typeface="Arial"/>
              </a:rPr>
              <a:t>    ·    github.com/Bl4ckd09/glassbox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Arial"/>
              </a:rPr>
              <a:t>A GLASS BOX, NOT A BLACK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4F4F5"/>
                </a:solidFill>
                <a:latin typeface="Arial"/>
              </a:rPr>
              <a:t>Transparent by construction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3392424" cy="3383280"/>
          </a:xfrm>
          <a:prstGeom prst="round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38BDF8"/>
                </a:solidFill>
                <a:latin typeface="Arial"/>
              </a:rPr>
              <a:t>Disclosed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28346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A1A1AA"/>
                </a:solidFill>
                <a:latin typeface="Arial"/>
              </a:rPr>
              <a:t>Decisions come from a transparent weighted-vote engine — SMA trend, RSI, momentum — every indicator value shown. AI narration explains, never overrides.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8264" y="2103120"/>
            <a:ext cx="3392424" cy="3383280"/>
          </a:xfrm>
          <a:prstGeom prst="round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2584" y="237744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34D399"/>
                </a:solidFill>
                <a:latin typeface="Arial"/>
              </a:rPr>
              <a:t>Built-in risk guards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2584" y="3017520"/>
            <a:ext cx="28346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A1A1AA"/>
                </a:solidFill>
                <a:latin typeface="Arial"/>
              </a:rPr>
              <a:t>Volatility-scaled sizing, hard-capped stops, ~1.8:1 reward:risk, and a spread/liquidity abstain rule that refuses unfair fills.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2103120"/>
            <a:ext cx="3392424" cy="3383280"/>
          </a:xfrm>
          <a:prstGeom prst="round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237744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A78BFA"/>
                </a:solidFill>
                <a:latin typeface="Arial"/>
              </a:rPr>
              <a:t>Honest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3017520"/>
            <a:ext cx="28346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A1A1AA"/>
                </a:solidFill>
                <a:latin typeface="Arial"/>
              </a:rPr>
              <a:t>The GlassBox Score rewards risk-adjusted quality and penalises recklessness — implementing BGA's 'better systems, not biggest gamble' in the product.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1717A"/>
                </a:solidFill>
                <a:latin typeface="Arial"/>
              </a:rPr>
              <a:t>glassbox-beige.vercel.app</a:t>
            </a:r>
            <a:r>
              <a:rPr sz="1100" b="0">
                <a:solidFill>
                  <a:srgbClr val="71717A"/>
                </a:solidFill>
                <a:latin typeface="Arial"/>
              </a:rPr>
              <a:t>    ·    github.com/Bl4ckd09/glassbox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8BDF8"/>
                </a:solidFill>
                <a:latin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4F4F5"/>
                </a:solidFill>
                <a:latin typeface="Arial"/>
              </a:rPr>
              <a:t>Real on-chain, not mocked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2514600" cy="1828800"/>
          </a:xfrm>
          <a:prstGeom prst="roundRect">
            <a:avLst/>
          </a:prstGeom>
          <a:solidFill>
            <a:srgbClr val="16161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8BDF8"/>
                </a:solidFill>
                <a:latin typeface="Arial"/>
              </a:rPr>
              <a:t>Live Sui DeepBook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Arial"/>
              </a:rPr>
              <a:t>order books + trade history (mainnet CLOB)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3552" y="2011680"/>
            <a:ext cx="32004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71717A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2736" y="2011680"/>
            <a:ext cx="2514600" cy="1828800"/>
          </a:xfrm>
          <a:prstGeom prst="roundRect">
            <a:avLst/>
          </a:prstGeom>
          <a:solidFill>
            <a:srgbClr val="16161B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224028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4D399"/>
                </a:solidFill>
                <a:latin typeface="Arial"/>
              </a:rPr>
              <a:t>Transparent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5615" y="292608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Arial"/>
              </a:rPr>
              <a:t>indicators → signal + risk guards + Sui-key signature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2011680"/>
            <a:ext cx="32004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71717A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2011680"/>
            <a:ext cx="2514600" cy="1828800"/>
          </a:xfrm>
          <a:prstGeom prst="roundRect">
            <a:avLst/>
          </a:prstGeom>
          <a:solidFill>
            <a:srgbClr val="16161B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24028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A78BFA"/>
                </a:solidFill>
                <a:latin typeface="Arial"/>
              </a:rPr>
              <a:t>Walrus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2608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Arial"/>
              </a:rPr>
              <a:t>immutable blob written before the outcome → blobId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2011680"/>
            <a:ext cx="32004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71717A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62288" y="2011680"/>
            <a:ext cx="2514600" cy="1828800"/>
          </a:xfrm>
          <a:prstGeom prst="roundRect">
            <a:avLst/>
          </a:prstGeom>
          <a:solidFill>
            <a:srgbClr val="16161B"/>
          </a:solidFill>
          <a:ln w="1587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5167" y="224028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4D4D8"/>
                </a:solidFill>
                <a:latin typeface="Arial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7" y="292608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Arial"/>
              </a:rPr>
              <a:t>anyone re-fetches + checks signature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97680"/>
            <a:ext cx="10543032" cy="1371600"/>
          </a:xfrm>
          <a:prstGeom prst="round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60"/>
            <a:ext cx="10058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4F4F5"/>
                </a:solidFill>
                <a:latin typeface="Arial"/>
              </a:rPr>
              <a:t>Stack:  </a:t>
            </a:r>
            <a:r>
              <a:rPr sz="1500" b="0">
                <a:solidFill>
                  <a:srgbClr val="D4D4D8"/>
                </a:solidFill>
                <a:latin typeface="Arial"/>
              </a:rPr>
              <a:t>Next.js 16 · TypeScript · Tailwind · @mysten/sui · @mysten/deepbook-v3 · @mysten/walrus · Vercel.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4F4F5"/>
                </a:solidFill>
                <a:latin typeface="Arial"/>
              </a:rPr>
              <a:t>Proof of real integration:  </a:t>
            </a:r>
            <a:r>
              <a:rPr sz="1500" b="0">
                <a:solidFill>
                  <a:srgbClr val="D4D4D8"/>
                </a:solidFill>
                <a:latin typeface="Arial"/>
              </a:rPr>
              <a:t>31 historical calls pre-anchored as real Walrus blobs; live signal generation signs + anchors on demand.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1717A"/>
                </a:solidFill>
                <a:latin typeface="Arial"/>
              </a:rPr>
              <a:t>glassbox-beige.vercel.app</a:t>
            </a:r>
            <a:r>
              <a:rPr sz="1100" b="0">
                <a:solidFill>
                  <a:srgbClr val="71717A"/>
                </a:solidFill>
                <a:latin typeface="Arial"/>
              </a:rPr>
              <a:t>    ·    github.com/Bl4ckd09/glassbox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Arial"/>
              </a:rPr>
              <a:t>WHY IT WINS — TWO BOUNTIES, ONE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4F4F5"/>
                </a:solidFill>
                <a:latin typeface="Arial"/>
              </a:rPr>
              <a:t>The Walrus audit trail scores on both rubrics at once.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5166360" cy="4023360"/>
          </a:xfrm>
          <a:prstGeom prst="round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38BDF8"/>
                </a:solidFill>
                <a:latin typeface="Arial"/>
              </a:rPr>
              <a:t>Sui — DeepBook &amp; Walrus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663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D4D4D8"/>
                </a:solidFill>
                <a:latin typeface="Arial"/>
              </a:rPr>
              <a:t>Real-World App (50%) — solves a regulator-flagged trust problem.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D4D4D8"/>
                </a:solidFill>
                <a:latin typeface="Arial"/>
              </a:rPr>
              <a:t>Technical (20%) — real DeepBook reads + real Walrus writes.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D4D4D8"/>
                </a:solidFill>
                <a:latin typeface="Arial"/>
              </a:rPr>
              <a:t>Product/UX (20%) — clean retail dashboard, live verify.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D4D4D8"/>
                </a:solidFill>
                <a:latin typeface="Arial"/>
              </a:rPr>
              <a:t>Vision (10%) — a provenance layer for every signal on Sui.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691640"/>
            <a:ext cx="5166360" cy="4023360"/>
          </a:xfrm>
          <a:prstGeom prst="roundRect">
            <a:avLst/>
          </a:prstGeom>
          <a:solidFill>
            <a:srgbClr val="16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874519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34D399"/>
                </a:solidFill>
                <a:latin typeface="Arial"/>
              </a:rPr>
              <a:t>BGA — AI Trading &amp;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468880"/>
            <a:ext cx="4663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D4D4D8"/>
                </a:solidFill>
                <a:latin typeface="Arial"/>
              </a:rPr>
              <a:t>Transparency &amp; verifiability (15) — the core feature.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D4D4D8"/>
                </a:solidFill>
                <a:latin typeface="Arial"/>
              </a:rPr>
              <a:t>Ethos (20) — ranks by risk-adjusted score, not raw PnL.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D4D4D8"/>
                </a:solidFill>
                <a:latin typeface="Arial"/>
              </a:rPr>
              <a:t>Innovation (20) — pre-registration on decentralized storage.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D4D4D8"/>
                </a:solidFill>
                <a:latin typeface="Arial"/>
              </a:rPr>
              <a:t>Strategy &amp; risk (15) — disclosed logic + risk guards.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D4D4D8"/>
                </a:solidFill>
                <a:latin typeface="Arial"/>
              </a:rPr>
              <a:t>Accessibility (10) — plain-language, retail-first.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1717A"/>
                </a:solidFill>
                <a:latin typeface="Arial"/>
              </a:rPr>
              <a:t>glassbox-beige.vercel.app</a:t>
            </a:r>
            <a:r>
              <a:rPr sz="1100" b="0">
                <a:solidFill>
                  <a:srgbClr val="71717A"/>
                </a:solidFill>
                <a:latin typeface="Arial"/>
              </a:rPr>
              <a:t>    ·    github.com/Bl4ckd09/glassbox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37760" y="1234440"/>
            <a:ext cx="685800" cy="68580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0" y="123444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8080B"/>
                </a:solidFill>
                <a:latin typeface="Arial"/>
              </a:rPr>
              <a:t>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4F4F5"/>
                </a:solidFill>
                <a:latin typeface="Arial"/>
              </a:rPr>
              <a:t>GlassBox — shipped &amp;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34D399"/>
                </a:solidFill>
                <a:latin typeface="Arial"/>
              </a:rPr>
              <a:t>Trading you can audit, not just trust.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38BDF8"/>
                </a:solidFill>
                <a:latin typeface="Arial"/>
              </a:rPr>
              <a:t>glassbox-beige.vercel.app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A1A1AA"/>
                </a:solidFill>
                <a:latin typeface="Arial"/>
              </a:rPr>
              <a:t>github.com/Bl4ckd09/glassbox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71717A"/>
                </a:solidFill>
                <a:latin typeface="Arial"/>
              </a:rPr>
              <a:t>Next: on-chain DeepBook execution · Walrus SDK + Sui attestation object · multi-day backtests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